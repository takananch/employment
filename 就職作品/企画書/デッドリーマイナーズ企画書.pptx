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6" r:id="rId9"/>
    <p:sldId id="267" r:id="rId10"/>
    <p:sldId id="271" r:id="rId11"/>
    <p:sldId id="268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4B437-D20B-4009-A7AB-D47386C6DFA5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779AE-4178-4089-8AC9-CC5B71B6AE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12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F6AFC-4CA6-481E-9FA1-C27552ACD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E9CE406-FCD5-4138-9A29-BB6D4C64F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DEB072-E982-415E-9CF2-4951774B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8FA1E-4A44-4571-B601-CF5B4D23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477745-7D83-4B5C-95F5-2D73F9DE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241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628F65-9AA4-4415-8DF8-E59674498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C6D662-B731-4DE1-B4A0-F1559D44B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62DE63-2163-41D0-BCC1-B156F07B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7EA10C-606D-45B5-9AAD-BDDF32E6A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FEC187-9F91-407F-811D-A2AFB16E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21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1F3A7-323B-4BD6-A3A2-26326534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E37589-155C-4ADA-8A1B-93B91127B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13398B-CF64-4175-B59C-BD321904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74AC61-B2A8-4779-AA09-16434C15E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B3371-B7F1-45DC-A008-733901C3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81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96EEC-20A7-4EF3-B8FA-5FA5B5B4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17E901-E08D-4520-A82E-0109ED4F1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E37517-6951-43E2-B358-798AE6013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5CEDF4-C1C8-417D-962E-95D4EA62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AB740D-78DE-455F-97E7-27F8113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F5DFE9-1C17-44A9-8376-496CC1F6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880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098A80-D23E-4CE6-BF58-ECF780F0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33797F-7782-41CA-BF69-40721238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3BA7A3-3FAE-4727-AF18-313CF72E3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5A1E32-E10F-4C02-8926-0424627DA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D16167-437A-4073-AF5D-C5CFFE94A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23FD4E5-1230-478A-8AB6-20D4F1F2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FEEE18-C0F0-4628-B9C0-E4325960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4A5797-5128-4224-9D06-34346835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129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65D39-853F-48BD-AC7D-CACDC7D6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CA84D5-B593-41BF-8818-CDE74B43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62B47E-4839-4EA5-AFF4-E8CECED6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C259ED-127B-4E13-917C-C927F9EA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76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F096653-8BEB-4551-A115-F0644F9D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A0A6DD0-F65C-476C-81A5-E7612AEF2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BDA245-5E49-43FD-B7CC-25787FB1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21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9755BB-E472-420B-AA3A-7A2B4AF7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A22985-C5D6-4F18-8B08-F9C69463C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4BC4B4-1F3F-43C8-A0C3-FD5FD881D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841141-EAFC-45F8-A174-57176AAD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6C1722-5FB8-46DE-9D7A-2455092E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C40BB2-909B-406A-9BD9-DF9835B0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46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F3722-94F5-4D40-AEAD-E06FFCFF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1A4225-5239-4A78-AC97-664634D9B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9300E5-387E-4F48-B747-40A149099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73C3DC-992C-4B36-AD01-E6CCCFAA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BC009F-272B-4A89-B6C0-06A4A53E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FA8E21-D969-4377-BA78-BCB74398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42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EAF873-B096-4B0C-A7AF-02F41C0F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30C769-B79D-412A-A1AA-9D0D17022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7DF5DF-9398-4A2A-8FA6-234AC9AF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6B5D42-DF5D-4F04-A376-38E8B718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4DDB6D-9017-496A-BF21-624E7D67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52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E92C187-C0CC-4E7B-B3A4-2E083C379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6C67D7-E6AE-4956-B0DA-BBDE6F2AD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F22AD1-5C99-43BA-9B79-DBDAACD5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DF94F3-8F7C-4005-80C3-07B7C275E9B2}" type="datetimeFigureOut">
              <a:rPr kumimoji="1" lang="ja-JP" altLang="en-US" smtClean="0"/>
              <a:t>2026/6/2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2E5744-1608-4E43-AE95-0AE219C6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036C02-25C7-4174-BC15-1FFE02F41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7FE2161-42F1-4159-8CBE-C7FC32F96E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56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59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696124A-B837-4072-B07C-8CD074846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706" y="1765148"/>
            <a:ext cx="5982931" cy="478805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980089-8165-4BAC-BF89-9B970FC94A70}"/>
              </a:ext>
            </a:extLst>
          </p:cNvPr>
          <p:cNvSpPr txBox="1"/>
          <p:nvPr/>
        </p:nvSpPr>
        <p:spPr>
          <a:xfrm>
            <a:off x="3328327" y="382070"/>
            <a:ext cx="5725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7200" dirty="0">
                <a:latin typeface="Bahnschrift Condensed" panose="020B0502040204020203" pitchFamily="34" charset="0"/>
              </a:rPr>
              <a:t>The Deadly Miners</a:t>
            </a:r>
            <a:endParaRPr kumimoji="1" lang="ja-JP" altLang="en-US" sz="7200" dirty="0">
              <a:latin typeface="Bahnschrift Condensed" panose="020B0502040204020203" pitchFamily="34" charset="0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B97B3C1A-3A4B-45D8-8860-FE18071036CB}"/>
              </a:ext>
            </a:extLst>
          </p:cNvPr>
          <p:cNvGrpSpPr/>
          <p:nvPr/>
        </p:nvGrpSpPr>
        <p:grpSpPr>
          <a:xfrm>
            <a:off x="3892551" y="5302072"/>
            <a:ext cx="5180020" cy="923332"/>
            <a:chOff x="2391833" y="3428999"/>
            <a:chExt cx="5180020" cy="49718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537C0E7A-4D8C-47B1-95A6-FDC4BFF1DB10}"/>
                </a:ext>
              </a:extLst>
            </p:cNvPr>
            <p:cNvSpPr txBox="1"/>
            <p:nvPr/>
          </p:nvSpPr>
          <p:spPr>
            <a:xfrm>
              <a:off x="2391833" y="3429000"/>
              <a:ext cx="1524000" cy="4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kumimoji="1" lang="ja-JP" altLang="en-US" dirty="0">
                  <a:solidFill>
                    <a:schemeClr val="bg1"/>
                  </a:solidFill>
                </a:rPr>
                <a:t>ジャンル：</a:t>
              </a:r>
              <a:endParaRPr kumimoji="1" lang="en-US" altLang="ja-JP" dirty="0">
                <a:solidFill>
                  <a:schemeClr val="bg1"/>
                </a:solidFill>
              </a:endParaRPr>
            </a:p>
            <a:p>
              <a:pPr algn="dist"/>
              <a:endParaRPr kumimoji="1" lang="en-US" altLang="ja-JP" dirty="0">
                <a:solidFill>
                  <a:schemeClr val="bg1"/>
                </a:solidFill>
              </a:endParaRPr>
            </a:p>
            <a:p>
              <a:pPr algn="dist"/>
              <a:r>
                <a:rPr lang="ja-JP" altLang="en-US" dirty="0">
                  <a:solidFill>
                    <a:schemeClr val="bg1"/>
                  </a:solidFill>
                </a:rPr>
                <a:t>コンセプト：</a:t>
              </a:r>
              <a:endParaRPr lang="en-US" altLang="ja-JP" dirty="0">
                <a:solidFill>
                  <a:schemeClr val="bg1"/>
                </a:solidFill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A285A828-D5FE-4F5D-B07C-8DE66D4C09D4}"/>
                </a:ext>
              </a:extLst>
            </p:cNvPr>
            <p:cNvSpPr txBox="1"/>
            <p:nvPr/>
          </p:nvSpPr>
          <p:spPr>
            <a:xfrm>
              <a:off x="3915832" y="3428999"/>
              <a:ext cx="3656021" cy="497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>
                  <a:solidFill>
                    <a:schemeClr val="bg1"/>
                  </a:solidFill>
                </a:rPr>
                <a:t>ホラー</a:t>
              </a:r>
              <a:endParaRPr lang="en-US" altLang="ja-JP" dirty="0">
                <a:solidFill>
                  <a:schemeClr val="bg1"/>
                </a:solidFill>
              </a:endParaRPr>
            </a:p>
            <a:p>
              <a:endParaRPr kumimoji="1" lang="en-US" altLang="ja-JP" dirty="0">
                <a:solidFill>
                  <a:schemeClr val="bg1"/>
                </a:solidFill>
              </a:endParaRPr>
            </a:p>
            <a:p>
              <a:r>
                <a:rPr lang="ja-JP" altLang="en-US" dirty="0">
                  <a:solidFill>
                    <a:schemeClr val="bg1"/>
                  </a:solidFill>
                </a:rPr>
                <a:t>恐怖の地下で宝石を手に入れろ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473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AFB1B2-B9D9-4770-AE72-32B4C77392EE}"/>
              </a:ext>
            </a:extLst>
          </p:cNvPr>
          <p:cNvSpPr txBox="1"/>
          <p:nvPr/>
        </p:nvSpPr>
        <p:spPr>
          <a:xfrm>
            <a:off x="262467" y="1514580"/>
            <a:ext cx="5885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１～５人の協力型ホラー探索ゲーム</a:t>
            </a:r>
            <a:endParaRPr kumimoji="1" lang="en-US" altLang="ja-JP" sz="1800" dirty="0"/>
          </a:p>
          <a:p>
            <a:r>
              <a:rPr kumimoji="1" lang="ja-JP" altLang="en-US" sz="1800" dirty="0"/>
              <a:t>トロッコで洞窟に潜る</a:t>
            </a:r>
            <a:endParaRPr kumimoji="1" lang="en-US" altLang="ja-JP" sz="1800" dirty="0"/>
          </a:p>
          <a:p>
            <a:r>
              <a:rPr lang="ja-JP" altLang="en-US" dirty="0"/>
              <a:t>宝石を回収し地上に持ち帰ることが目的</a:t>
            </a:r>
            <a:endParaRPr kumimoji="1" lang="ja-JP" altLang="en-US" sz="1800" dirty="0"/>
          </a:p>
        </p:txBody>
      </p:sp>
      <p:sp>
        <p:nvSpPr>
          <p:cNvPr id="3" name="矢印: 五方向 2">
            <a:extLst>
              <a:ext uri="{FF2B5EF4-FFF2-40B4-BE49-F238E27FC236}">
                <a16:creationId xmlns:a16="http://schemas.microsoft.com/office/drawing/2014/main" id="{9EF4BBD0-C037-4DFB-8778-49276AA4867A}"/>
              </a:ext>
            </a:extLst>
          </p:cNvPr>
          <p:cNvSpPr/>
          <p:nvPr/>
        </p:nvSpPr>
        <p:spPr>
          <a:xfrm>
            <a:off x="262467" y="228600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6000" dirty="0">
                <a:solidFill>
                  <a:schemeClr val="bg1"/>
                </a:solidFill>
              </a:rPr>
              <a:t>概要</a:t>
            </a:r>
            <a:endParaRPr kumimoji="1" lang="ja-JP" altLang="en-US" sz="6000" dirty="0">
              <a:solidFill>
                <a:schemeClr val="bg1"/>
              </a:solidFill>
            </a:endParaRPr>
          </a:p>
        </p:txBody>
      </p:sp>
      <p:pic>
        <p:nvPicPr>
          <p:cNvPr id="1026" name="Picture 2" descr="協力して進む会社員のイラスト">
            <a:extLst>
              <a:ext uri="{FF2B5EF4-FFF2-40B4-BE49-F238E27FC236}">
                <a16:creationId xmlns:a16="http://schemas.microsoft.com/office/drawing/2014/main" id="{2CC2DA73-ADCC-4CAF-9305-FAEF3CD29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89" y="2328333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金山のイラスト">
            <a:extLst>
              <a:ext uri="{FF2B5EF4-FFF2-40B4-BE49-F238E27FC236}">
                <a16:creationId xmlns:a16="http://schemas.microsoft.com/office/drawing/2014/main" id="{9FFE0416-E9D0-4810-8C04-799AA1510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7624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96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794588" y="745066"/>
            <a:ext cx="5584541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ゲームの流れ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794589" y="2031046"/>
            <a:ext cx="767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１：トロッコで洞窟へ降下</a:t>
            </a:r>
            <a:endParaRPr kumimoji="1" lang="en-US" altLang="ja-JP" sz="1800" dirty="0"/>
          </a:p>
          <a:p>
            <a:r>
              <a:rPr lang="ja-JP" altLang="en-US" dirty="0"/>
              <a:t>２：洞窟を探索・採掘</a:t>
            </a:r>
            <a:endParaRPr lang="en-US" altLang="ja-JP" dirty="0"/>
          </a:p>
          <a:p>
            <a:r>
              <a:rPr kumimoji="1" lang="ja-JP" altLang="en-US" sz="1800" dirty="0"/>
              <a:t>３：宝石を回収</a:t>
            </a:r>
            <a:endParaRPr kumimoji="1" lang="en-US" altLang="ja-JP" sz="1800" dirty="0"/>
          </a:p>
          <a:p>
            <a:r>
              <a:rPr lang="ja-JP" altLang="en-US" dirty="0"/>
              <a:t>４：トロッコへ運び納品</a:t>
            </a:r>
            <a:endParaRPr lang="en-US" altLang="ja-JP" dirty="0"/>
          </a:p>
          <a:p>
            <a:r>
              <a:rPr kumimoji="1" lang="ja-JP" altLang="en-US" sz="1800" dirty="0"/>
              <a:t>５：撤退するか、深く潜るか選択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1AC39E9-3925-49E2-BCDC-81D4052AE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611" y="0"/>
            <a:ext cx="8569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8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1219200" y="355600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6000" dirty="0">
                <a:solidFill>
                  <a:schemeClr val="bg1"/>
                </a:solidFill>
              </a:rPr>
              <a:t>特徴とリスク</a:t>
            </a:r>
            <a:endParaRPr kumimoji="1" lang="ja-JP" altLang="en-US" sz="6000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1219198" y="1641580"/>
            <a:ext cx="10176935" cy="3593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kumimoji="1" lang="ja-JP" altLang="en-US" sz="1800" dirty="0"/>
              <a:t>撤退すると、手に入れた宝石を地上に持ち帰る</a:t>
            </a:r>
            <a:endParaRPr kumimoji="1" lang="en-US" altLang="ja-JP" sz="1800" dirty="0"/>
          </a:p>
          <a:p>
            <a:pPr>
              <a:lnSpc>
                <a:spcPts val="4000"/>
              </a:lnSpc>
            </a:pPr>
            <a:r>
              <a:rPr kumimoji="1" lang="ja-JP" altLang="en-US" sz="1800" dirty="0"/>
              <a:t>深く潜るほど価値の高い宝石が出やすくなるが、</a:t>
            </a:r>
            <a:r>
              <a:rPr lang="ja-JP" altLang="en-US" dirty="0"/>
              <a:t>洞窟は複雑化し敵の数が増える</a:t>
            </a:r>
            <a:endParaRPr lang="en-US" altLang="ja-JP" dirty="0"/>
          </a:p>
          <a:p>
            <a:pPr>
              <a:lnSpc>
                <a:spcPts val="4000"/>
              </a:lnSpc>
            </a:pPr>
            <a:r>
              <a:rPr kumimoji="1" lang="ja-JP" altLang="en-US" sz="1800" dirty="0"/>
              <a:t>バッグには重量があり、一度に持てる量に上限がある</a:t>
            </a:r>
            <a:endParaRPr kumimoji="1" lang="en-US" altLang="ja-JP" sz="1800" dirty="0"/>
          </a:p>
          <a:p>
            <a:pPr>
              <a:lnSpc>
                <a:spcPts val="4000"/>
              </a:lnSpc>
            </a:pPr>
            <a:r>
              <a:rPr lang="ja-JP" altLang="en-US" dirty="0"/>
              <a:t>上限に達した場合、トロッコに戻り納品する</a:t>
            </a:r>
            <a:endParaRPr kumimoji="1" lang="en-US" altLang="ja-JP" sz="1800" dirty="0"/>
          </a:p>
          <a:p>
            <a:pPr>
              <a:lnSpc>
                <a:spcPts val="4000"/>
              </a:lnSpc>
            </a:pPr>
            <a:r>
              <a:rPr kumimoji="1" lang="ja-JP" altLang="en-US" sz="1800" dirty="0"/>
              <a:t>様々な死亡要因が存在し、全員が死亡すると手に入れた宝石を全て失う（アイテムで蘇生可能）</a:t>
            </a:r>
            <a:endParaRPr kumimoji="1" lang="en-US" altLang="ja-JP" sz="1800" dirty="0"/>
          </a:p>
          <a:p>
            <a:pPr>
              <a:lnSpc>
                <a:spcPts val="4000"/>
              </a:lnSpc>
            </a:pPr>
            <a:r>
              <a:rPr lang="ja-JP" altLang="en-US" dirty="0"/>
              <a:t>毎フロア目標額が設定され、目標額に到達出来なかった場合、強制的に撤退し入手した宝石を持ち帰る</a:t>
            </a:r>
            <a:endParaRPr lang="en-US" altLang="ja-JP" dirty="0"/>
          </a:p>
          <a:p>
            <a:pPr>
              <a:lnSpc>
                <a:spcPts val="4000"/>
              </a:lnSpc>
            </a:pPr>
            <a:r>
              <a:rPr kumimoji="1" lang="ja-JP" altLang="en-US" sz="1800" dirty="0"/>
              <a:t>目標額は深く潜るほど増加</a:t>
            </a:r>
            <a:endParaRPr kumimoji="1" lang="en-US" altLang="ja-JP" sz="18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992B73A-1284-4C2E-8430-0CF9C383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1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7" y="228600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採掘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7" y="1514580"/>
            <a:ext cx="767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ツルハシで洞窟上に落ちている岩を破壊</a:t>
            </a:r>
            <a:endParaRPr kumimoji="1" lang="en-US" altLang="ja-JP" sz="1800" dirty="0"/>
          </a:p>
          <a:p>
            <a:r>
              <a:rPr lang="ja-JP" altLang="en-US" dirty="0"/>
              <a:t>様々な種類の</a:t>
            </a:r>
            <a:r>
              <a:rPr lang="ja-JP" altLang="en-US" b="1" dirty="0"/>
              <a:t>宝石</a:t>
            </a:r>
            <a:r>
              <a:rPr lang="ja-JP" altLang="en-US" dirty="0"/>
              <a:t>が出てくることがある</a:t>
            </a:r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突然変異</a:t>
            </a:r>
            <a:r>
              <a:rPr lang="ja-JP" altLang="en-US" dirty="0"/>
              <a:t>で宝石の価値が変動する</a:t>
            </a:r>
            <a:endParaRPr kumimoji="1" lang="ja-JP" altLang="en-US" sz="1800" dirty="0"/>
          </a:p>
        </p:txBody>
      </p:sp>
      <p:pic>
        <p:nvPicPr>
          <p:cNvPr id="4098" name="Picture 2" descr="石炭を掘る人のイラスト">
            <a:extLst>
              <a:ext uri="{FF2B5EF4-FFF2-40B4-BE49-F238E27FC236}">
                <a16:creationId xmlns:a16="http://schemas.microsoft.com/office/drawing/2014/main" id="{46CCA725-E58B-46E7-9224-D67FB1FC5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8300" y="2437910"/>
            <a:ext cx="4191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石・岩のイラスト">
            <a:extLst>
              <a:ext uri="{FF2B5EF4-FFF2-40B4-BE49-F238E27FC236}">
                <a16:creationId xmlns:a16="http://schemas.microsoft.com/office/drawing/2014/main" id="{4843CE1E-82ED-40B1-9E6B-6A49C1758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934" y="3361240"/>
            <a:ext cx="38100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鉱石のイラスト（台座付き・緑）">
            <a:extLst>
              <a:ext uri="{FF2B5EF4-FFF2-40B4-BE49-F238E27FC236}">
                <a16:creationId xmlns:a16="http://schemas.microsoft.com/office/drawing/2014/main" id="{72D52A6C-B457-449A-B7BC-0A3A0E983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04" y="3652309"/>
            <a:ext cx="19145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233B2048-1367-461F-AE4B-F6C78D5F2DA2}"/>
              </a:ext>
            </a:extLst>
          </p:cNvPr>
          <p:cNvSpPr/>
          <p:nvPr/>
        </p:nvSpPr>
        <p:spPr>
          <a:xfrm>
            <a:off x="8153400" y="4250267"/>
            <a:ext cx="1329267" cy="889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69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6" y="228600"/>
            <a:ext cx="6460305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宝石の種類と値段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6" y="1488822"/>
            <a:ext cx="7670800" cy="3362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ja-JP" altLang="en-US" dirty="0"/>
              <a:t>例：</a:t>
            </a:r>
            <a:endParaRPr lang="en-US" altLang="ja-JP" dirty="0"/>
          </a:p>
          <a:p>
            <a:pPr>
              <a:lnSpc>
                <a:spcPts val="1500"/>
              </a:lnSpc>
            </a:pPr>
            <a:endParaRPr kumimoji="1" lang="en-US" altLang="ja-JP" sz="1800" dirty="0"/>
          </a:p>
          <a:p>
            <a:pPr>
              <a:lnSpc>
                <a:spcPts val="1500"/>
              </a:lnSpc>
            </a:pPr>
            <a:r>
              <a:rPr lang="ja-JP" altLang="en-US" dirty="0"/>
              <a:t>銅鉱石</a:t>
            </a:r>
            <a:r>
              <a:rPr lang="en-US" altLang="ja-JP" dirty="0"/>
              <a:t>		</a:t>
            </a:r>
            <a:r>
              <a:rPr lang="ja-JP" altLang="en-US" dirty="0"/>
              <a:t>・・・＄</a:t>
            </a:r>
            <a:r>
              <a:rPr lang="en-US" altLang="ja-JP" dirty="0"/>
              <a:t>100</a:t>
            </a:r>
          </a:p>
          <a:p>
            <a:pPr>
              <a:lnSpc>
                <a:spcPts val="1500"/>
              </a:lnSpc>
            </a:pPr>
            <a:endParaRPr kumimoji="1" lang="en-US" altLang="ja-JP" sz="1800" dirty="0"/>
          </a:p>
          <a:p>
            <a:pPr>
              <a:lnSpc>
                <a:spcPts val="1500"/>
              </a:lnSpc>
            </a:pPr>
            <a:r>
              <a:rPr lang="ja-JP" altLang="en-US" dirty="0"/>
              <a:t>金鉱石</a:t>
            </a:r>
            <a:r>
              <a:rPr lang="en-US" altLang="ja-JP" dirty="0"/>
              <a:t>		</a:t>
            </a:r>
            <a:r>
              <a:rPr lang="ja-JP" altLang="en-US" dirty="0"/>
              <a:t>・・・＄</a:t>
            </a:r>
            <a:r>
              <a:rPr lang="en-US" altLang="ja-JP" dirty="0"/>
              <a:t>200</a:t>
            </a:r>
          </a:p>
          <a:p>
            <a:pPr>
              <a:lnSpc>
                <a:spcPts val="1500"/>
              </a:lnSpc>
            </a:pPr>
            <a:endParaRPr lang="en-US" altLang="ja-JP" dirty="0"/>
          </a:p>
          <a:p>
            <a:pPr>
              <a:lnSpc>
                <a:spcPts val="1500"/>
              </a:lnSpc>
            </a:pPr>
            <a:r>
              <a:rPr lang="ja-JP" altLang="en-US" dirty="0"/>
              <a:t>パール</a:t>
            </a:r>
            <a:r>
              <a:rPr lang="en-US" altLang="ja-JP" dirty="0"/>
              <a:t>		</a:t>
            </a:r>
            <a:r>
              <a:rPr lang="ja-JP" altLang="en-US" dirty="0"/>
              <a:t>・・・＄</a:t>
            </a:r>
            <a:r>
              <a:rPr lang="en-US" altLang="ja-JP" dirty="0"/>
              <a:t>300</a:t>
            </a:r>
          </a:p>
          <a:p>
            <a:pPr>
              <a:lnSpc>
                <a:spcPts val="1500"/>
              </a:lnSpc>
            </a:pPr>
            <a:endParaRPr kumimoji="1" lang="en-US" altLang="ja-JP" sz="1800" dirty="0"/>
          </a:p>
          <a:p>
            <a:pPr>
              <a:lnSpc>
                <a:spcPts val="1500"/>
              </a:lnSpc>
            </a:pPr>
            <a:r>
              <a:rPr lang="ja-JP" altLang="en-US" dirty="0"/>
              <a:t>エメラルド</a:t>
            </a:r>
            <a:r>
              <a:rPr lang="en-US" altLang="ja-JP" dirty="0"/>
              <a:t>	</a:t>
            </a:r>
            <a:r>
              <a:rPr lang="ja-JP" altLang="en-US" dirty="0"/>
              <a:t>・・・＄</a:t>
            </a:r>
            <a:r>
              <a:rPr lang="en-US" altLang="ja-JP" dirty="0"/>
              <a:t>500</a:t>
            </a:r>
          </a:p>
          <a:p>
            <a:pPr>
              <a:lnSpc>
                <a:spcPts val="1500"/>
              </a:lnSpc>
            </a:pPr>
            <a:endParaRPr lang="en-US" altLang="ja-JP" dirty="0"/>
          </a:p>
          <a:p>
            <a:pPr>
              <a:lnSpc>
                <a:spcPts val="1500"/>
              </a:lnSpc>
            </a:pPr>
            <a:r>
              <a:rPr kumimoji="1" lang="ja-JP" altLang="en-US" sz="1800" dirty="0"/>
              <a:t>ルビー</a:t>
            </a:r>
            <a:r>
              <a:rPr kumimoji="1" lang="en-US" altLang="ja-JP" sz="1800" dirty="0"/>
              <a:t>		</a:t>
            </a:r>
            <a:r>
              <a:rPr kumimoji="1" lang="ja-JP" altLang="en-US" sz="1800" dirty="0"/>
              <a:t>・・・＄</a:t>
            </a:r>
            <a:r>
              <a:rPr kumimoji="1" lang="en-US" altLang="ja-JP" sz="1800" dirty="0"/>
              <a:t>800</a:t>
            </a:r>
          </a:p>
          <a:p>
            <a:pPr>
              <a:lnSpc>
                <a:spcPts val="1500"/>
              </a:lnSpc>
            </a:pPr>
            <a:endParaRPr kumimoji="1" lang="en-US" altLang="ja-JP" sz="1800" dirty="0"/>
          </a:p>
          <a:p>
            <a:pPr>
              <a:lnSpc>
                <a:spcPts val="1500"/>
              </a:lnSpc>
            </a:pPr>
            <a:r>
              <a:rPr lang="ja-JP" altLang="en-US" dirty="0"/>
              <a:t>トパーズ</a:t>
            </a:r>
            <a:r>
              <a:rPr lang="en-US" altLang="ja-JP" dirty="0"/>
              <a:t>		</a:t>
            </a:r>
            <a:r>
              <a:rPr lang="ja-JP" altLang="en-US" dirty="0"/>
              <a:t>・・・</a:t>
            </a:r>
            <a:r>
              <a:rPr lang="ja-JP" altLang="en-US" b="1" dirty="0">
                <a:solidFill>
                  <a:srgbClr val="00B0F0"/>
                </a:solidFill>
              </a:rPr>
              <a:t>＄</a:t>
            </a:r>
            <a:r>
              <a:rPr lang="en-US" altLang="ja-JP" b="1" dirty="0">
                <a:solidFill>
                  <a:srgbClr val="00B0F0"/>
                </a:solidFill>
              </a:rPr>
              <a:t>1,000</a:t>
            </a:r>
          </a:p>
          <a:p>
            <a:pPr>
              <a:lnSpc>
                <a:spcPts val="1500"/>
              </a:lnSpc>
            </a:pPr>
            <a:endParaRPr lang="en-US" altLang="ja-JP" dirty="0"/>
          </a:p>
          <a:p>
            <a:pPr>
              <a:lnSpc>
                <a:spcPts val="1500"/>
              </a:lnSpc>
            </a:pPr>
            <a:r>
              <a:rPr kumimoji="1" lang="ja-JP" altLang="en-US" sz="1800" dirty="0"/>
              <a:t>サファイア</a:t>
            </a:r>
            <a:r>
              <a:rPr kumimoji="1" lang="en-US" altLang="ja-JP" sz="1800" dirty="0"/>
              <a:t>	</a:t>
            </a:r>
            <a:r>
              <a:rPr kumimoji="1" lang="ja-JP" altLang="en-US" sz="1800" dirty="0"/>
              <a:t>・・・</a:t>
            </a:r>
            <a:r>
              <a:rPr kumimoji="1" lang="ja-JP" altLang="en-US" sz="1800" b="1" dirty="0">
                <a:solidFill>
                  <a:srgbClr val="FFC000"/>
                </a:solidFill>
              </a:rPr>
              <a:t>＄</a:t>
            </a:r>
            <a:r>
              <a:rPr kumimoji="1" lang="en-US" altLang="ja-JP" sz="1800" b="1" dirty="0">
                <a:solidFill>
                  <a:srgbClr val="FFC000"/>
                </a:solidFill>
              </a:rPr>
              <a:t>1,500</a:t>
            </a:r>
          </a:p>
          <a:p>
            <a:pPr>
              <a:lnSpc>
                <a:spcPts val="1500"/>
              </a:lnSpc>
            </a:pPr>
            <a:endParaRPr kumimoji="1" lang="en-US" altLang="ja-JP" sz="1800" b="1" dirty="0"/>
          </a:p>
          <a:p>
            <a:pPr>
              <a:lnSpc>
                <a:spcPts val="1500"/>
              </a:lnSpc>
            </a:pPr>
            <a:r>
              <a:rPr kumimoji="1" lang="ja-JP" altLang="en-US" sz="1800" dirty="0"/>
              <a:t>ダイヤモンド</a:t>
            </a:r>
            <a:r>
              <a:rPr kumimoji="1" lang="en-US" altLang="ja-JP" sz="1800" dirty="0"/>
              <a:t>	</a:t>
            </a:r>
            <a:r>
              <a:rPr kumimoji="1" lang="ja-JP" altLang="en-US" sz="1800" dirty="0"/>
              <a:t>・・・</a:t>
            </a:r>
            <a:r>
              <a:rPr kumimoji="1" lang="ja-JP" altLang="en-US" sz="1800" b="1" dirty="0">
                <a:solidFill>
                  <a:srgbClr val="FF0000"/>
                </a:solidFill>
              </a:rPr>
              <a:t>＄</a:t>
            </a:r>
            <a:r>
              <a:rPr kumimoji="1" lang="en-US" altLang="ja-JP" sz="1800" b="1" dirty="0">
                <a:solidFill>
                  <a:srgbClr val="FF0000"/>
                </a:solidFill>
              </a:rPr>
              <a:t>3,000</a:t>
            </a:r>
          </a:p>
        </p:txBody>
      </p:sp>
      <p:pic>
        <p:nvPicPr>
          <p:cNvPr id="5122" name="Picture 2" descr="鉱石のイラスト（台座付き・赤）">
            <a:extLst>
              <a:ext uri="{FF2B5EF4-FFF2-40B4-BE49-F238E27FC236}">
                <a16:creationId xmlns:a16="http://schemas.microsoft.com/office/drawing/2014/main" id="{BE6B2ABC-A49E-45E7-902B-CFF4CB32E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271" y="976842"/>
            <a:ext cx="19145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鉱石のイラスト（台座付き・黄色）">
            <a:extLst>
              <a:ext uri="{FF2B5EF4-FFF2-40B4-BE49-F238E27FC236}">
                <a16:creationId xmlns:a16="http://schemas.microsoft.com/office/drawing/2014/main" id="{5EC1D1B4-3CB7-4657-B9C0-97C533E36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007" y="3660656"/>
            <a:ext cx="19145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鉱石のイラスト（台座付き・透明）">
            <a:extLst>
              <a:ext uri="{FF2B5EF4-FFF2-40B4-BE49-F238E27FC236}">
                <a16:creationId xmlns:a16="http://schemas.microsoft.com/office/drawing/2014/main" id="{0DB25C23-627A-4CC1-97B5-AAA2F1A87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2910843"/>
            <a:ext cx="19145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08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778934" y="237067"/>
            <a:ext cx="4876203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6000" dirty="0">
                <a:solidFill>
                  <a:schemeClr val="bg1"/>
                </a:solidFill>
              </a:rPr>
              <a:t>突然変異</a:t>
            </a:r>
            <a:endParaRPr kumimoji="1" lang="ja-JP" altLang="en-US" sz="6000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778933" y="1523047"/>
            <a:ext cx="111224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岩を破壊した時に</a:t>
            </a:r>
            <a:r>
              <a:rPr kumimoji="1" lang="ja-JP" altLang="en-US" sz="1800" dirty="0"/>
              <a:t>一定の確率で宝石に</a:t>
            </a:r>
            <a:r>
              <a:rPr kumimoji="1" lang="ja-JP" altLang="en-US" sz="1800" b="1" dirty="0"/>
              <a:t>突然変異</a:t>
            </a:r>
            <a:r>
              <a:rPr kumimoji="1" lang="ja-JP" altLang="en-US" sz="1800" dirty="0"/>
              <a:t>が付与されることがある</a:t>
            </a:r>
            <a:endParaRPr kumimoji="1" lang="en-US" altLang="ja-JP" sz="1800" dirty="0"/>
          </a:p>
          <a:p>
            <a:r>
              <a:rPr lang="ja-JP" altLang="en-US" dirty="0"/>
              <a:t>１つの宝石に複数付与されることもある</a:t>
            </a:r>
            <a:endParaRPr kumimoji="1" lang="en-US" altLang="ja-JP" sz="1800" dirty="0"/>
          </a:p>
          <a:p>
            <a:endParaRPr lang="en-US" altLang="ja-JP" dirty="0"/>
          </a:p>
          <a:p>
            <a:r>
              <a:rPr lang="ja-JP" altLang="en-US" dirty="0"/>
              <a:t>変異の例</a:t>
            </a:r>
            <a:endParaRPr lang="en-US" altLang="ja-JP" dirty="0"/>
          </a:p>
          <a:p>
            <a:r>
              <a:rPr kumimoji="1" lang="ja-JP" altLang="en-US" sz="1800" dirty="0"/>
              <a:t>氷：</a:t>
            </a:r>
            <a:r>
              <a:rPr kumimoji="1" lang="en-US" altLang="ja-JP" sz="1800" dirty="0"/>
              <a:t>		</a:t>
            </a:r>
            <a:r>
              <a:rPr kumimoji="1" lang="en-US" altLang="ja-JP" sz="1800" b="1" dirty="0"/>
              <a:t>×1.5</a:t>
            </a:r>
          </a:p>
          <a:p>
            <a:r>
              <a:rPr lang="ja-JP" altLang="en-US" dirty="0"/>
              <a:t>電気：</a:t>
            </a:r>
            <a:r>
              <a:rPr lang="en-US" altLang="ja-JP" dirty="0"/>
              <a:t>		</a:t>
            </a:r>
            <a:r>
              <a:rPr lang="en-US" altLang="ja-JP" b="1" dirty="0"/>
              <a:t>×2</a:t>
            </a:r>
            <a:r>
              <a:rPr lang="ja-JP" altLang="en-US" dirty="0"/>
              <a:t>（所持していると持続ダメージ）</a:t>
            </a:r>
            <a:endParaRPr lang="en-US" altLang="ja-JP" dirty="0"/>
          </a:p>
          <a:p>
            <a:r>
              <a:rPr lang="ja-JP" altLang="en-US" dirty="0"/>
              <a:t>混沌：</a:t>
            </a:r>
            <a:r>
              <a:rPr lang="en-US" altLang="ja-JP" dirty="0"/>
              <a:t>		</a:t>
            </a:r>
            <a:r>
              <a:rPr lang="en-US" altLang="ja-JP" b="1" dirty="0"/>
              <a:t>×2.5</a:t>
            </a:r>
            <a:r>
              <a:rPr lang="ja-JP" altLang="en-US" dirty="0"/>
              <a:t>（所持していると操作が反転）</a:t>
            </a:r>
            <a:endParaRPr lang="en-US" altLang="ja-JP" dirty="0"/>
          </a:p>
          <a:p>
            <a:r>
              <a:rPr kumimoji="1" lang="ja-JP" altLang="en-US" sz="1800" dirty="0"/>
              <a:t>レインボー：</a:t>
            </a:r>
            <a:r>
              <a:rPr kumimoji="1" lang="en-US" altLang="ja-JP" sz="1800" dirty="0"/>
              <a:t>	</a:t>
            </a:r>
            <a:r>
              <a:rPr kumimoji="1" lang="en-US" altLang="ja-JP" sz="1800" b="1" dirty="0"/>
              <a:t>×3</a:t>
            </a:r>
          </a:p>
          <a:p>
            <a:r>
              <a:rPr lang="ja-JP" altLang="en-US" dirty="0"/>
              <a:t>ギャラクシー：</a:t>
            </a:r>
            <a:r>
              <a:rPr lang="en-US" altLang="ja-JP" dirty="0"/>
              <a:t>	</a:t>
            </a:r>
            <a:r>
              <a:rPr lang="en-US" altLang="ja-JP" b="1" dirty="0"/>
              <a:t>×5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例えば金鉱石（＄</a:t>
            </a:r>
            <a:r>
              <a:rPr lang="en-US" altLang="ja-JP" dirty="0"/>
              <a:t>200</a:t>
            </a:r>
            <a:r>
              <a:rPr lang="ja-JP" altLang="en-US" dirty="0"/>
              <a:t>）に電気（</a:t>
            </a:r>
            <a:r>
              <a:rPr lang="en-US" altLang="ja-JP" dirty="0"/>
              <a:t>×2</a:t>
            </a:r>
            <a:r>
              <a:rPr lang="ja-JP" altLang="en-US" dirty="0"/>
              <a:t>）とレインボー（</a:t>
            </a:r>
            <a:r>
              <a:rPr lang="en-US" altLang="ja-JP" dirty="0"/>
              <a:t>×3</a:t>
            </a:r>
            <a:r>
              <a:rPr lang="ja-JP" altLang="en-US" dirty="0"/>
              <a:t>）の変異が付いた場合、</a:t>
            </a:r>
            <a:r>
              <a:rPr lang="ja-JP" altLang="en-US" b="1" dirty="0"/>
              <a:t>＄</a:t>
            </a:r>
            <a:r>
              <a:rPr lang="en-US" altLang="ja-JP" b="1" dirty="0"/>
              <a:t>1,200</a:t>
            </a:r>
            <a:r>
              <a:rPr lang="ja-JP" altLang="en-US" dirty="0"/>
              <a:t>になる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理論値として、ダイヤモンド（＄</a:t>
            </a:r>
            <a:r>
              <a:rPr lang="en-US" altLang="ja-JP" dirty="0"/>
              <a:t>3,000</a:t>
            </a:r>
            <a:r>
              <a:rPr lang="ja-JP" altLang="en-US" dirty="0"/>
              <a:t>）の品質が良質（</a:t>
            </a:r>
            <a:r>
              <a:rPr lang="en-US" altLang="ja-JP" dirty="0"/>
              <a:t>×2</a:t>
            </a:r>
            <a:r>
              <a:rPr lang="ja-JP" altLang="en-US" dirty="0"/>
              <a:t>）でサイズが巨大（</a:t>
            </a:r>
            <a:r>
              <a:rPr lang="en-US" altLang="ja-JP" dirty="0"/>
              <a:t>×3</a:t>
            </a:r>
            <a:r>
              <a:rPr lang="ja-JP" altLang="en-US" dirty="0"/>
              <a:t>）で上記全ての変異が付い</a:t>
            </a:r>
            <a:endParaRPr lang="en-US" altLang="ja-JP" dirty="0"/>
          </a:p>
          <a:p>
            <a:r>
              <a:rPr lang="ja-JP" altLang="en-US" dirty="0"/>
              <a:t>た場合、</a:t>
            </a:r>
            <a:r>
              <a:rPr lang="ja-JP" altLang="en-US" b="1" dirty="0"/>
              <a:t>＄</a:t>
            </a:r>
            <a:r>
              <a:rPr lang="en-US" altLang="ja-JP" b="1" dirty="0"/>
              <a:t>2,025,000</a:t>
            </a:r>
            <a:r>
              <a:rPr lang="ja-JP" altLang="en-US" dirty="0"/>
              <a:t>になる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4647DD-48DE-4A71-A3B6-AE3E85CAE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94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1219200" y="414866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エンティティ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1219200" y="1700846"/>
            <a:ext cx="110828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洞窟には様々なエンティティが存在し、プレイヤーを襲いダメージを与える</a:t>
            </a:r>
            <a:endParaRPr lang="en-US" altLang="ja-JP" dirty="0"/>
          </a:p>
          <a:p>
            <a:r>
              <a:rPr lang="ja-JP" altLang="en-US" dirty="0"/>
              <a:t>一部のエンティティは武器を使用し撃退が可能</a:t>
            </a:r>
            <a:r>
              <a:rPr lang="en-US" altLang="ja-JP" dirty="0"/>
              <a:t>※</a:t>
            </a:r>
            <a:r>
              <a:rPr lang="ja-JP" altLang="en-US" dirty="0"/>
              <a:t>武器は後述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エンティティの例</a:t>
            </a:r>
            <a:endParaRPr lang="en-US" altLang="ja-JP" dirty="0"/>
          </a:p>
          <a:p>
            <a:r>
              <a:rPr lang="ja-JP" altLang="en-US" dirty="0"/>
              <a:t>寄生虫：</a:t>
            </a:r>
            <a:r>
              <a:rPr lang="en-US" altLang="ja-JP" dirty="0"/>
              <a:t>	</a:t>
            </a:r>
            <a:r>
              <a:rPr lang="ja-JP" altLang="en-US" dirty="0"/>
              <a:t>天井から落下し、張り付いたプレイヤーを襲う</a:t>
            </a:r>
            <a:endParaRPr lang="en-US" altLang="ja-JP" dirty="0"/>
          </a:p>
          <a:p>
            <a:r>
              <a:rPr lang="ja-JP" altLang="en-US" dirty="0"/>
              <a:t>ワーム：</a:t>
            </a:r>
            <a:r>
              <a:rPr lang="en-US" altLang="ja-JP" dirty="0"/>
              <a:t>	</a:t>
            </a:r>
            <a:r>
              <a:rPr lang="ja-JP" altLang="en-US" dirty="0"/>
              <a:t>地面に生息し、上を通過したプレイヤーを襲う</a:t>
            </a:r>
            <a:endParaRPr lang="en-US" altLang="ja-JP" dirty="0"/>
          </a:p>
          <a:p>
            <a:r>
              <a:rPr lang="ja-JP" altLang="en-US" dirty="0"/>
              <a:t>ラット：</a:t>
            </a:r>
            <a:r>
              <a:rPr lang="en-US" altLang="ja-JP" dirty="0"/>
              <a:t>	</a:t>
            </a:r>
            <a:r>
              <a:rPr lang="ja-JP" altLang="en-US" dirty="0"/>
              <a:t>プレイヤーのバッグから宝石を奪い逃走</a:t>
            </a:r>
            <a:endParaRPr lang="en-US" altLang="ja-JP" dirty="0"/>
          </a:p>
          <a:p>
            <a:r>
              <a:rPr lang="ja-JP" altLang="en-US" dirty="0"/>
              <a:t>ミミック：</a:t>
            </a:r>
            <a:r>
              <a:rPr lang="en-US" altLang="ja-JP" dirty="0"/>
              <a:t>	</a:t>
            </a:r>
            <a:r>
              <a:rPr lang="ja-JP" altLang="en-US" dirty="0"/>
              <a:t>岩に擬態し、壊そうとしたプレイヤーを襲う（撃退不可）</a:t>
            </a:r>
            <a:endParaRPr lang="en-US" altLang="ja-JP" dirty="0"/>
          </a:p>
          <a:p>
            <a:r>
              <a:rPr lang="ja-JP" altLang="en-US" dirty="0"/>
              <a:t>幻影：</a:t>
            </a:r>
            <a:r>
              <a:rPr lang="en-US" altLang="ja-JP" dirty="0"/>
              <a:t>	</a:t>
            </a:r>
            <a:r>
              <a:rPr lang="ja-JP" altLang="en-US" dirty="0"/>
              <a:t>正気度が低下すると出現、さらに一定の値まで低下するとプレイヤーを襲う（撃退不可）</a:t>
            </a:r>
            <a:r>
              <a:rPr lang="en-US" altLang="ja-JP" dirty="0"/>
              <a:t>※</a:t>
            </a:r>
            <a:r>
              <a:rPr lang="ja-JP" altLang="en-US" dirty="0"/>
              <a:t>正気</a:t>
            </a:r>
            <a:endParaRPr lang="en-US" altLang="ja-JP" dirty="0"/>
          </a:p>
          <a:p>
            <a:r>
              <a:rPr lang="ja-JP" altLang="en-US" dirty="0"/>
              <a:t>度は後述</a:t>
            </a:r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E92327-56FC-4F96-B4CE-279974F45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1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7" y="228600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正気度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7" y="1514580"/>
            <a:ext cx="10465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長時間洞窟を探索したり、エンティティに襲われることで正気度が低下する</a:t>
            </a:r>
            <a:endParaRPr kumimoji="1" lang="en-US" altLang="ja-JP" sz="1800" dirty="0"/>
          </a:p>
          <a:p>
            <a:r>
              <a:rPr lang="ja-JP" altLang="en-US" dirty="0"/>
              <a:t>正気度が低下すると幻聴や幻覚が発生し、特定のエンティティが出現</a:t>
            </a:r>
            <a:endParaRPr lang="en-US" altLang="ja-JP" dirty="0"/>
          </a:p>
          <a:p>
            <a:r>
              <a:rPr lang="ja-JP" altLang="en-US" dirty="0"/>
              <a:t>トロッコに戻ることで正気度は回復する。</a:t>
            </a:r>
            <a:endParaRPr lang="en-US" altLang="ja-JP" dirty="0"/>
          </a:p>
        </p:txBody>
      </p:sp>
      <p:pic>
        <p:nvPicPr>
          <p:cNvPr id="6146" name="Picture 2" descr="視線が怖い人のイラスト">
            <a:extLst>
              <a:ext uri="{FF2B5EF4-FFF2-40B4-BE49-F238E27FC236}">
                <a16:creationId xmlns:a16="http://schemas.microsoft.com/office/drawing/2014/main" id="{4A2E75AA-4498-46AA-8B9D-4FB6D260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13" y="2819400"/>
            <a:ext cx="34575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幻覚のイラスト">
            <a:extLst>
              <a:ext uri="{FF2B5EF4-FFF2-40B4-BE49-F238E27FC236}">
                <a16:creationId xmlns:a16="http://schemas.microsoft.com/office/drawing/2014/main" id="{B151002C-87DB-4C93-92E7-3A6E5CF9F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967037"/>
            <a:ext cx="381000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4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7" y="228600"/>
            <a:ext cx="4876800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6000" dirty="0">
                <a:solidFill>
                  <a:schemeClr val="bg1"/>
                </a:solidFill>
              </a:rPr>
              <a:t>制限時間</a:t>
            </a:r>
            <a:endParaRPr kumimoji="1" lang="ja-JP" altLang="en-US" sz="6000" dirty="0">
              <a:solidFill>
                <a:schemeClr val="bg1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7" y="1514580"/>
            <a:ext cx="1132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/>
              <a:t>毎フロア毒ガスが発生するまでの制限時間があり、時間内にトロッコまで戻れなければ死亡し入手した宝石を失う</a:t>
            </a:r>
            <a:endParaRPr kumimoji="1" lang="en-US" altLang="ja-JP" sz="18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4C38BCD-DA4B-46DF-AB1D-B4D6A392E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364" y="2312529"/>
            <a:ext cx="4981005" cy="4316871"/>
          </a:xfrm>
          <a:prstGeom prst="rect">
            <a:avLst/>
          </a:prstGeom>
        </p:spPr>
      </p:pic>
      <p:pic>
        <p:nvPicPr>
          <p:cNvPr id="7176" name="Picture 8" descr="気絶のイラスト">
            <a:extLst>
              <a:ext uri="{FF2B5EF4-FFF2-40B4-BE49-F238E27FC236}">
                <a16:creationId xmlns:a16="http://schemas.microsoft.com/office/drawing/2014/main" id="{AC4620D6-416B-4676-AA9B-9A12ADD9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180" y="2312529"/>
            <a:ext cx="36861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55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7" y="228600"/>
            <a:ext cx="5275448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イベントフロア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7" y="1514580"/>
            <a:ext cx="10465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次のフロアに到着した際、確率で発生する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イベントの例</a:t>
            </a:r>
            <a:endParaRPr lang="en-US" altLang="ja-JP" dirty="0"/>
          </a:p>
          <a:p>
            <a:r>
              <a:rPr lang="ja-JP" altLang="en-US" dirty="0">
                <a:solidFill>
                  <a:schemeClr val="accent4"/>
                </a:solidFill>
              </a:rPr>
              <a:t>ゴールドラッシュ</a:t>
            </a:r>
            <a:r>
              <a:rPr lang="ja-JP" altLang="en-US" dirty="0"/>
              <a:t>：</a:t>
            </a:r>
            <a:r>
              <a:rPr lang="en-US" altLang="ja-JP" dirty="0"/>
              <a:t>	</a:t>
            </a:r>
            <a:r>
              <a:rPr lang="ja-JP" altLang="en-US" dirty="0"/>
              <a:t>　金鉱石の出現率が増加</a:t>
            </a:r>
            <a:endParaRPr lang="en-US" altLang="ja-JP" dirty="0"/>
          </a:p>
          <a:p>
            <a:r>
              <a:rPr lang="ja-JP" altLang="en-US" dirty="0">
                <a:solidFill>
                  <a:srgbClr val="FF33CC"/>
                </a:solidFill>
              </a:rPr>
              <a:t>収容突破</a:t>
            </a:r>
            <a:r>
              <a:rPr lang="ja-JP" altLang="en-US" dirty="0"/>
              <a:t>：</a:t>
            </a:r>
            <a:r>
              <a:rPr lang="en-US" altLang="ja-JP" dirty="0"/>
              <a:t>	</a:t>
            </a:r>
            <a:r>
              <a:rPr lang="ja-JP" altLang="en-US" dirty="0"/>
              <a:t>　エンティティの数が増加</a:t>
            </a:r>
            <a:endParaRPr lang="en-US" altLang="ja-JP" dirty="0"/>
          </a:p>
          <a:p>
            <a:r>
              <a:rPr lang="ja-JP" altLang="en-US" dirty="0">
                <a:solidFill>
                  <a:schemeClr val="accent6"/>
                </a:solidFill>
              </a:rPr>
              <a:t>セーフハウス</a:t>
            </a:r>
            <a:r>
              <a:rPr lang="ja-JP" altLang="en-US" dirty="0"/>
              <a:t>：</a:t>
            </a:r>
            <a:r>
              <a:rPr lang="en-US" altLang="ja-JP" dirty="0"/>
              <a:t>	</a:t>
            </a:r>
            <a:r>
              <a:rPr lang="ja-JP" altLang="en-US" dirty="0"/>
              <a:t>　エンティティが出現しない</a:t>
            </a:r>
            <a:endParaRPr lang="en-US" altLang="ja-JP" dirty="0"/>
          </a:p>
          <a:p>
            <a:r>
              <a:rPr lang="ja-JP" altLang="en-US" dirty="0"/>
              <a:t>黒い霧：</a:t>
            </a:r>
            <a:r>
              <a:rPr lang="en-US" altLang="ja-JP" dirty="0"/>
              <a:t>		</a:t>
            </a:r>
            <a:r>
              <a:rPr lang="ja-JP" altLang="en-US" dirty="0"/>
              <a:t>　視界が悪化</a:t>
            </a:r>
            <a:endParaRPr lang="en-US" altLang="ja-JP" dirty="0"/>
          </a:p>
          <a:p>
            <a:r>
              <a:rPr lang="ja-JP" altLang="en-US" dirty="0">
                <a:solidFill>
                  <a:schemeClr val="accent4">
                    <a:lumMod val="75000"/>
                  </a:schemeClr>
                </a:solidFill>
              </a:rPr>
              <a:t>ライトニングゾーン</a:t>
            </a:r>
            <a:r>
              <a:rPr lang="ja-JP" altLang="en-US" dirty="0"/>
              <a:t>：　電気（</a:t>
            </a:r>
            <a:r>
              <a:rPr lang="en-US" altLang="ja-JP" dirty="0"/>
              <a:t>×2</a:t>
            </a:r>
            <a:r>
              <a:rPr lang="ja-JP" altLang="en-US" dirty="0"/>
              <a:t>）の突然変異の確率が増加</a:t>
            </a:r>
            <a:endParaRPr lang="en-US" altLang="ja-JP" dirty="0"/>
          </a:p>
        </p:txBody>
      </p:sp>
      <p:pic>
        <p:nvPicPr>
          <p:cNvPr id="3074" name="Picture 2" descr="栗きんとんのイラスト">
            <a:extLst>
              <a:ext uri="{FF2B5EF4-FFF2-40B4-BE49-F238E27FC236}">
                <a16:creationId xmlns:a16="http://schemas.microsoft.com/office/drawing/2014/main" id="{47EBE081-B1EE-4480-87CB-95BC250D9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533" y="4390178"/>
            <a:ext cx="2523067" cy="223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五里霧中のイラスト">
            <a:extLst>
              <a:ext uri="{FF2B5EF4-FFF2-40B4-BE49-F238E27FC236}">
                <a16:creationId xmlns:a16="http://schemas.microsoft.com/office/drawing/2014/main" id="{A5B99441-4CB7-495B-933A-43DC47F39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429000"/>
            <a:ext cx="38100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19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1024467" y="211667"/>
            <a:ext cx="5275448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宝石の使い道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1024467" y="1497647"/>
            <a:ext cx="104656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地上に持ち帰った宝石は、売却しお金にできる</a:t>
            </a:r>
            <a:endParaRPr lang="en-US" altLang="ja-JP" dirty="0"/>
          </a:p>
          <a:p>
            <a:r>
              <a:rPr lang="ja-JP" altLang="en-US" dirty="0"/>
              <a:t>お金はアイテムを購入したり、役職を購入することができる</a:t>
            </a:r>
            <a:endParaRPr lang="en-US" altLang="ja-JP" dirty="0"/>
          </a:p>
          <a:p>
            <a:r>
              <a:rPr lang="ja-JP" altLang="en-US" dirty="0"/>
              <a:t>アイテムはトロッコに持ち込むことができる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アイテムの例</a:t>
            </a:r>
            <a:endParaRPr lang="en-US" altLang="ja-JP" dirty="0"/>
          </a:p>
          <a:p>
            <a:r>
              <a:rPr lang="ja-JP" altLang="en-US" dirty="0"/>
              <a:t>包帯：</a:t>
            </a:r>
            <a:r>
              <a:rPr lang="en-US" altLang="ja-JP" dirty="0"/>
              <a:t>		</a:t>
            </a:r>
            <a:r>
              <a:rPr lang="ja-JP" altLang="en-US" dirty="0"/>
              <a:t>体力を回復</a:t>
            </a:r>
            <a:endParaRPr lang="en-US" altLang="ja-JP" dirty="0"/>
          </a:p>
          <a:p>
            <a:r>
              <a:rPr lang="ja-JP" altLang="en-US" dirty="0"/>
              <a:t>栄養ドリンク：</a:t>
            </a:r>
            <a:r>
              <a:rPr lang="en-US" altLang="ja-JP" dirty="0"/>
              <a:t>	</a:t>
            </a:r>
            <a:r>
              <a:rPr lang="ja-JP" altLang="en-US" dirty="0"/>
              <a:t>一定時間移動速度が上昇</a:t>
            </a:r>
            <a:endParaRPr lang="en-US" altLang="ja-JP" dirty="0"/>
          </a:p>
          <a:p>
            <a:r>
              <a:rPr lang="ja-JP" altLang="en-US" dirty="0"/>
              <a:t>鉄パイプ：</a:t>
            </a:r>
            <a:r>
              <a:rPr lang="en-US" altLang="ja-JP" dirty="0"/>
              <a:t>	</a:t>
            </a:r>
            <a:r>
              <a:rPr lang="ja-JP" altLang="en-US" dirty="0"/>
              <a:t>殴ることでエンティティを撃退</a:t>
            </a:r>
            <a:endParaRPr lang="en-US" altLang="ja-JP" dirty="0"/>
          </a:p>
          <a:p>
            <a:r>
              <a:rPr lang="ja-JP" altLang="en-US" dirty="0"/>
              <a:t>懐中電灯：</a:t>
            </a:r>
            <a:r>
              <a:rPr lang="en-US" altLang="ja-JP" dirty="0"/>
              <a:t>	</a:t>
            </a:r>
            <a:r>
              <a:rPr lang="ja-JP" altLang="en-US" dirty="0"/>
              <a:t>視界を明るくする</a:t>
            </a:r>
            <a:endParaRPr lang="en-US" altLang="ja-JP" dirty="0"/>
          </a:p>
          <a:p>
            <a:r>
              <a:rPr lang="ja-JP" altLang="en-US" dirty="0"/>
              <a:t>蘇生薬：</a:t>
            </a:r>
            <a:r>
              <a:rPr lang="en-US" altLang="ja-JP" dirty="0"/>
              <a:t>		</a:t>
            </a:r>
            <a:r>
              <a:rPr lang="ja-JP" altLang="en-US" dirty="0"/>
              <a:t>死んだプレイヤーを蘇生</a:t>
            </a:r>
            <a:endParaRPr lang="en-US" altLang="ja-JP" dirty="0"/>
          </a:p>
          <a:p>
            <a:r>
              <a:rPr lang="ja-JP" altLang="en-US" dirty="0"/>
              <a:t>閃光弾：</a:t>
            </a:r>
            <a:r>
              <a:rPr lang="en-US" altLang="ja-JP" dirty="0"/>
              <a:t>		</a:t>
            </a:r>
            <a:r>
              <a:rPr lang="ja-JP" altLang="en-US" dirty="0"/>
              <a:t>エンティティの動きをしばらく停止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役職の例</a:t>
            </a:r>
            <a:endParaRPr lang="en-US" altLang="ja-JP" dirty="0"/>
          </a:p>
          <a:p>
            <a:r>
              <a:rPr lang="ja-JP" altLang="en-US" dirty="0"/>
              <a:t>ランナー：</a:t>
            </a:r>
            <a:r>
              <a:rPr lang="en-US" altLang="ja-JP" dirty="0"/>
              <a:t>	</a:t>
            </a:r>
            <a:r>
              <a:rPr lang="ja-JP" altLang="en-US" dirty="0"/>
              <a:t>移動速度が上昇</a:t>
            </a:r>
            <a:endParaRPr lang="en-US" altLang="ja-JP" dirty="0"/>
          </a:p>
          <a:p>
            <a:r>
              <a:rPr lang="ja-JP" altLang="en-US" dirty="0"/>
              <a:t>医者：</a:t>
            </a:r>
            <a:r>
              <a:rPr lang="en-US" altLang="ja-JP" dirty="0"/>
              <a:t>		</a:t>
            </a:r>
            <a:r>
              <a:rPr lang="ja-JP" altLang="en-US" dirty="0"/>
              <a:t>包帯の回復量が増加</a:t>
            </a:r>
            <a:endParaRPr lang="en-US" altLang="ja-JP" dirty="0"/>
          </a:p>
          <a:p>
            <a:r>
              <a:rPr lang="ja-JP" altLang="en-US" dirty="0"/>
              <a:t>配達員：</a:t>
            </a:r>
            <a:r>
              <a:rPr lang="en-US" altLang="ja-JP" dirty="0"/>
              <a:t>		</a:t>
            </a:r>
            <a:r>
              <a:rPr lang="ja-JP" altLang="en-US" dirty="0"/>
              <a:t>バッグの容量が増加し、宝石を一度に多く持てる</a:t>
            </a:r>
            <a:endParaRPr lang="en-US" altLang="ja-JP" dirty="0"/>
          </a:p>
          <a:p>
            <a:r>
              <a:rPr lang="ja-JP" altLang="en-US" dirty="0"/>
              <a:t>ベテラン：</a:t>
            </a:r>
            <a:r>
              <a:rPr lang="en-US" altLang="ja-JP" dirty="0"/>
              <a:t>	</a:t>
            </a:r>
            <a:r>
              <a:rPr lang="ja-JP" altLang="en-US" dirty="0"/>
              <a:t>銃でエンティティを素早く撃退</a:t>
            </a:r>
            <a:endParaRPr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BC1907A-579E-4887-9754-7A090AE17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8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1545FAAA-D9AD-4E17-BAC5-41C6C3E85286}"/>
              </a:ext>
            </a:extLst>
          </p:cNvPr>
          <p:cNvSpPr/>
          <p:nvPr/>
        </p:nvSpPr>
        <p:spPr>
          <a:xfrm>
            <a:off x="262467" y="228600"/>
            <a:ext cx="5275448" cy="107526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6000" dirty="0">
                <a:solidFill>
                  <a:schemeClr val="bg1"/>
                </a:solidFill>
              </a:rPr>
              <a:t>ランキング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3761F5-071A-4E7D-B045-AC65C30072EE}"/>
              </a:ext>
            </a:extLst>
          </p:cNvPr>
          <p:cNvSpPr txBox="1"/>
          <p:nvPr/>
        </p:nvSpPr>
        <p:spPr>
          <a:xfrm>
            <a:off x="262467" y="1514580"/>
            <a:ext cx="104656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様々なランキングを用意し、モチベーションや競争力を維持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ランキングの例：</a:t>
            </a:r>
            <a:endParaRPr lang="en-US" altLang="ja-JP" dirty="0"/>
          </a:p>
          <a:p>
            <a:r>
              <a:rPr lang="ja-JP" altLang="en-US" dirty="0"/>
              <a:t>プレイ時間</a:t>
            </a:r>
            <a:endParaRPr lang="en-US" altLang="ja-JP" dirty="0"/>
          </a:p>
          <a:p>
            <a:r>
              <a:rPr lang="ja-JP" altLang="en-US" dirty="0"/>
              <a:t>所持金</a:t>
            </a:r>
            <a:endParaRPr lang="en-US" altLang="ja-JP" dirty="0"/>
          </a:p>
          <a:p>
            <a:r>
              <a:rPr lang="ja-JP" altLang="en-US" dirty="0"/>
              <a:t>どれだけ価値の高い宝石を入手したか</a:t>
            </a:r>
            <a:endParaRPr lang="en-US" altLang="ja-JP" dirty="0"/>
          </a:p>
          <a:p>
            <a:r>
              <a:rPr lang="ja-JP" altLang="en-US" dirty="0"/>
              <a:t>どれだけ深く潜れたか</a:t>
            </a:r>
            <a:endParaRPr lang="en-US" altLang="ja-JP" dirty="0"/>
          </a:p>
        </p:txBody>
      </p:sp>
      <p:pic>
        <p:nvPicPr>
          <p:cNvPr id="2054" name="Picture 6" descr="金の優勝カップのイラスト">
            <a:extLst>
              <a:ext uri="{FF2B5EF4-FFF2-40B4-BE49-F238E27FC236}">
                <a16:creationId xmlns:a16="http://schemas.microsoft.com/office/drawing/2014/main" id="{97DAB1F5-53B9-4819-BE10-6D456A9C2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3589095"/>
            <a:ext cx="2476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銀の優勝カップのイラスト">
            <a:extLst>
              <a:ext uri="{FF2B5EF4-FFF2-40B4-BE49-F238E27FC236}">
                <a16:creationId xmlns:a16="http://schemas.microsoft.com/office/drawing/2014/main" id="{04189EF8-74A5-42DF-AC1C-1B3A8AA69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883" y="3589095"/>
            <a:ext cx="2476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銅の優勝カップのイラスト">
            <a:extLst>
              <a:ext uri="{FF2B5EF4-FFF2-40B4-BE49-F238E27FC236}">
                <a16:creationId xmlns:a16="http://schemas.microsoft.com/office/drawing/2014/main" id="{1CED75CE-B24B-4A02-A1F6-DB9498820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616" y="3622190"/>
            <a:ext cx="2476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240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364E907-CA84-4184-B522-B56540BAE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33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878</Words>
  <Application>Microsoft Office PowerPoint</Application>
  <PresentationFormat>ワイド画面</PresentationFormat>
  <Paragraphs>115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Bahnschrift Condensed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34</cp:revision>
  <dcterms:created xsi:type="dcterms:W3CDTF">2026-04-10T00:40:00Z</dcterms:created>
  <dcterms:modified xsi:type="dcterms:W3CDTF">2026-06-02T00:54:03Z</dcterms:modified>
</cp:coreProperties>
</file>